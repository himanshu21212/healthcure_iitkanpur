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5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852160" cy="5852160"/>
          </a:xfrm>
          <a:prstGeom prst="ellipse">
            <a:avLst/>
          </a:prstGeom>
          <a:solidFill>
            <a:srgbClr val="0C4A50"/>
          </a:solidFill>
          <a:ln/>
        </p:spPr>
      </p:sp>
      <p:sp>
        <p:nvSpPr>
          <p:cNvPr id="3" name="Shape 1"/>
          <p:cNvSpPr/>
          <p:nvPr/>
        </p:nvSpPr>
        <p:spPr>
          <a:xfrm>
            <a:off x="10149840" y="4114800"/>
            <a:ext cx="3291840" cy="3291840"/>
          </a:xfrm>
          <a:prstGeom prst="ellipse">
            <a:avLst/>
          </a:prstGeom>
          <a:solidFill>
            <a:srgbClr val="E05A4D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713232"/>
            <a:ext cx="548640" cy="548640"/>
          </a:xfrm>
          <a:prstGeom prst="ellipse">
            <a:avLst/>
          </a:prstGeom>
          <a:solidFill>
            <a:srgbClr val="E05A4D"/>
          </a:solidFill>
          <a:ln/>
        </p:spPr>
      </p:sp>
      <p:pic>
        <p:nvPicPr>
          <p:cNvPr id="5" name="Image 0" descr="/home/claude/GlucoTwin/docs/img/icons/heartbeat_#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" y="866851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74980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B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HAPPIEST HEALTH · DIGITAL TWIN CHALLENGE · BENGALURU 2026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18288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GlucoTwin</a:t>
            </a:r>
            <a:endParaRPr lang="en-US" sz="80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3456432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DCE8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digital twin that predicts a dangerous blood-sugar spike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221E1A"/>
                </a:solidFill>
                <a:highlight>
                  <a:srgbClr val="FBE6B8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about an hour before it happens </a:t>
            </a:r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DCE8E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— so a doctor can act in time.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713232" y="4992624"/>
            <a:ext cx="146304" cy="146304"/>
          </a:xfrm>
          <a:prstGeom prst="ellipse">
            <a:avLst/>
          </a:prstGeom>
          <a:solidFill>
            <a:srgbClr val="D9983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50976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0.95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10942" y="4992624"/>
            <a:ext cx="146304" cy="146304"/>
          </a:xfrm>
          <a:prstGeom prst="ellipse">
            <a:avLst/>
          </a:prstGeom>
          <a:solidFill>
            <a:srgbClr val="1B9E7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8686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caught early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740250" y="4992624"/>
            <a:ext cx="146304" cy="146304"/>
          </a:xfrm>
          <a:prstGeom prst="ellipse">
            <a:avLst/>
          </a:prstGeom>
          <a:solidFill>
            <a:srgbClr val="E05A4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977994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min ahead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645859" y="4992624"/>
            <a:ext cx="146304" cy="146304"/>
          </a:xfrm>
          <a:prstGeom prst="ellipse">
            <a:avLst/>
          </a:prstGeom>
          <a:solidFill>
            <a:srgbClr val="8FB9B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83603" y="479145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clinically safe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" y="5852160"/>
            <a:ext cx="10762488" cy="0"/>
          </a:xfrm>
          <a:prstGeom prst="line">
            <a:avLst/>
          </a:prstGeom>
          <a:noFill/>
          <a:ln w="12700">
            <a:solidFill>
              <a:srgbClr val="2A5A5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3232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Healthcure · IIT Kanpur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E05A4D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868680"/>
            <a:ext cx="2377440" cy="2377440"/>
          </a:xfrm>
          <a:prstGeom prst="ellipse">
            <a:avLst/>
          </a:prstGeom>
          <a:solidFill>
            <a:srgbClr val="F7E7D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97280" y="86868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E05A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</a:t>
            </a:r>
            <a:endParaRPr lang="en-US" sz="92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4290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Meera R.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977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B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· Coimbatore, Tamil Nadu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4526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2 diabetes 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years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50017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8.4 %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547725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FAD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Wears   </a:t>
            </a:r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smartwatch + CGM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61722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6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persona — not a real patient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566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PATIENT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896112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Meera, and millions like her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7830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 watch and glucose sensor stream all day; her hospital holds nine years of records. </a:t>
            </a:r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221E1A"/>
                </a:solidFill>
                <a:highlight>
                  <a:srgbClr val="F7D4CC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Yet the two never talk to each other </a:t>
            </a:r>
            <a:pPr indent="0" marL="0">
              <a:lnSpc>
                <a:spcPct val="122000"/>
              </a:lnSpc>
              <a:buNone/>
            </a:pPr>
            <a:r>
              <a:rPr lang="en-US" sz="17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— so a dangerous spike is found weeks later, after the damage.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074920" y="3200400"/>
            <a:ext cx="6400800" cy="0"/>
          </a:xfrm>
          <a:prstGeom prst="line">
            <a:avLst/>
          </a:prstGeom>
          <a:noFill/>
          <a:ln w="15240">
            <a:solidFill>
              <a:srgbClr val="E3D8C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333756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E7C8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101M</a:t>
            </a:r>
            <a:endParaRPr lang="en-US" sz="96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611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people live with diabetes in India — the largest burden of any country on earth.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74920" y="5047488"/>
            <a:ext cx="182880" cy="182880"/>
          </a:xfrm>
          <a:prstGeom prst="ellipse">
            <a:avLst/>
          </a:prstGeom>
          <a:solidFill>
            <a:srgbClr val="D9983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94960" y="4983480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: 8,000  —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endocrinologists per patient — expert time is the scarcest resource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074920" y="5733288"/>
            <a:ext cx="182880" cy="182880"/>
          </a:xfrm>
          <a:prstGeom prst="ellipse">
            <a:avLst/>
          </a:prstGeom>
          <a:solidFill>
            <a:srgbClr val="E05A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5669280"/>
            <a:ext cx="6080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21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by default  —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excursions are found after the fact, accelerating complications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reactive to proactive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72768"/>
            <a:ext cx="10762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GlucoTwin builds a living virtual twin of the patient and predicts a hyperglycemic excursion </a:t>
            </a:r>
            <a:pPr indent="0" marL="0">
              <a:buNone/>
            </a:pPr>
            <a:r>
              <a:rPr lang="en-US" sz="1800" b="1" dirty="0">
                <a:solidFill>
                  <a:srgbClr val="221E1A"/>
                </a:solidFill>
                <a:highlight>
                  <a:srgbClr val="FBE6B8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60–120 minutes in advance.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54203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E7C8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2148840" y="259689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Predict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029200" y="2633472"/>
            <a:ext cx="6446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the next hyperglycemic event before it happens — a real window to act.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2148840" y="3657600"/>
            <a:ext cx="9326880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3232" y="382219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6E5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387705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</a:t>
            </a:r>
            <a:endParaRPr lang="en-US" sz="27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913632"/>
            <a:ext cx="6446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doctor the wearable and record signals behind every single alert.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2148840" y="4937760"/>
            <a:ext cx="9326880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13232" y="5102352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05A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52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5157216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Simulate</a:t>
            </a:r>
            <a:endParaRPr lang="en-US" sz="27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5193792"/>
            <a:ext cx="6446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levers — walk, meds, sleep, meal — turn each prediction into an action.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FUSION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data streams — and why we need both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4114800" cy="1554480"/>
          </a:xfrm>
          <a:prstGeom prst="rect">
            <a:avLst/>
          </a:prstGeom>
          <a:solidFill>
            <a:srgbClr val="CDEDE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41832" y="1938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A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HEALTH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41832" y="224942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· labs · medications · comorbidities (CKD) · family history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3611880"/>
            <a:ext cx="4114800" cy="1554480"/>
          </a:xfrm>
          <a:prstGeom prst="rect">
            <a:avLst/>
          </a:prstGeom>
          <a:solidFill>
            <a:srgbClr val="FBE6B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37673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A5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WEARABLE + CGM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4078224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glucose · heart rate &amp; HRV · steps · sleep · meals, every 15 min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92040" y="2514600"/>
            <a:ext cx="1143000" cy="914400"/>
          </a:xfrm>
          <a:prstGeom prst="line">
            <a:avLst/>
          </a:prstGeom>
          <a:noFill/>
          <a:ln w="27940">
            <a:solidFill>
              <a:srgbClr val="E05A4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92040" y="4434840"/>
            <a:ext cx="1143000" cy="-914400"/>
          </a:xfrm>
          <a:prstGeom prst="line">
            <a:avLst/>
          </a:prstGeom>
          <a:noFill/>
          <a:ln w="27940">
            <a:solidFill>
              <a:srgbClr val="E05A4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3017520"/>
            <a:ext cx="1417320" cy="1417320"/>
          </a:xfrm>
          <a:prstGeom prst="ellipse">
            <a:avLst/>
          </a:prstGeom>
          <a:solidFill>
            <a:srgbClr val="E05A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3246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fused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36758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BE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26680" y="3730752"/>
            <a:ext cx="868680" cy="0"/>
          </a:xfrm>
          <a:prstGeom prst="line">
            <a:avLst/>
          </a:prstGeom>
          <a:noFill/>
          <a:ln w="27940">
            <a:solidFill>
              <a:srgbClr val="E05A4D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8686800" y="342900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twin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713232" y="5532120"/>
            <a:ext cx="10762488" cy="0"/>
          </a:xfrm>
          <a:prstGeom prst="line">
            <a:avLst/>
          </a:prstGeom>
          <a:noFill/>
          <a:ln w="15240">
            <a:solidFill>
              <a:srgbClr val="E3D8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5687568"/>
            <a:ext cx="10762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fusion is real: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meal spikes past 180 is set by a hidden state —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1E1A"/>
                </a:solidFill>
                <a:highlight>
                  <a:srgbClr val="CDEDE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anchored by the record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1E1A"/>
                </a:solidFill>
                <a:highlight>
                  <a:srgbClr val="FBE6B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swinging with what only the wearable sees.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Neither alone is enough — our ablation proves it.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From two streams to a clinician's screen</a:t>
            </a:r>
            <a:endParaRPr lang="en-US" sz="3100" dirty="0"/>
          </a:p>
        </p:txBody>
      </p:sp>
      <p:pic>
        <p:nvPicPr>
          <p:cNvPr id="4" name="Image 0" descr="/home/claude/GlucoTwin/docs/img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81328"/>
            <a:ext cx="1118311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hybrid twin — interpretable, deep-learning ready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E7C8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764792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Gradient-Boosted Trees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764792" y="2432304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deployed predictor on the fused vector: interpretable, fast, SHAP-native — chosen over a Transformer on purpose.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291072" y="182880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A51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42632" y="187452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Optional LSTM arm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342632" y="2432304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raw window with the record joined at the dense head — the same late-fusion idea, as a sequence model.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931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6E5DC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1764792" y="3977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Glucose forecaster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764792" y="4535424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glucose +60 min, which powers the Clarke Error Grid clinical-safety check.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291072" y="3931920"/>
            <a:ext cx="1005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5A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342632" y="39776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Counterfactual engine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7342632" y="4535424"/>
            <a:ext cx="4160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Perturbs levers and re-scores risk — this is what makes it a twin, not a classifier.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13232" y="5989320"/>
            <a:ext cx="1076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probability of glucose exceeding 180 mg/dL in the next 60–120 minutes, from the last 2 hours of fused data.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proof — and the clinical numbers</a:t>
            </a:r>
            <a:endParaRPr lang="en-US" sz="3100" dirty="0"/>
          </a:p>
        </p:txBody>
      </p:sp>
      <p:pic>
        <p:nvPicPr>
          <p:cNvPr id="4" name="Image 0" descr="/home/claude/GlucoTwin/artifacts/plots/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5440680" cy="3255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5102352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added stream lifts performance — on held-out patients, no leakage.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7373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0.77</a:t>
            </a:r>
            <a:pPr indent="0" marL="0">
              <a:buNone/>
            </a:pPr>
            <a:r>
              <a:rPr lang="en-US" sz="36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→ </a:t>
            </a:r>
            <a:pPr indent="0" marL="0">
              <a:buNone/>
            </a:pPr>
            <a:r>
              <a:rPr lang="en-US" sz="3600" b="1" dirty="0">
                <a:solidFill>
                  <a:srgbClr val="0A51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0.81</a:t>
            </a:r>
            <a:pPr indent="0" marL="0">
              <a:buNone/>
            </a:pPr>
            <a:r>
              <a:rPr lang="en-US" sz="36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→ </a:t>
            </a:r>
            <a:pPr indent="0" marL="0">
              <a:buNone/>
            </a:pPr>
            <a:r>
              <a:rPr lang="en-US" sz="3600" b="1" dirty="0">
                <a:solidFill>
                  <a:srgbClr val="0E7C86"/>
                </a:solidFill>
                <a:highlight>
                  <a:srgbClr val="CDEDE2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0.82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5146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 as we add CGM → wearable → record. Both streams carry signal the other can't.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5080" y="3337560"/>
            <a:ext cx="5120640" cy="0"/>
          </a:xfrm>
          <a:prstGeom prst="line">
            <a:avLst/>
          </a:prstGeom>
          <a:noFill/>
          <a:ln w="15240">
            <a:solidFill>
              <a:srgbClr val="E3D8C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7C8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0.95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4187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961120" y="35661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515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41879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9E77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84%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5239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@10% FAR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8961120" y="46177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983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~50m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23951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571500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1E1A"/>
                </a:solidFill>
                <a:highlight>
                  <a:srgbClr val="CDEDE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95.8% of forecasts fall in Clarke Zones A + B</a:t>
            </a:r>
            <a:pPr indent="0" marL="0">
              <a:buNone/>
            </a:pPr>
            <a:r>
              <a:rPr lang="en-US" sz="14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clinically safe.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Explainable by design — the doctor sees why</a:t>
            </a:r>
            <a:endParaRPr lang="en-US" sz="3100" dirty="0"/>
          </a:p>
        </p:txBody>
      </p:sp>
      <p:pic>
        <p:nvPicPr>
          <p:cNvPr id="4" name="Image 0" descr="/home/claude/GlucoTwin/artifacts/plots/global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5943600" cy="38953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55080" y="18288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“Why is this patient at risk </a:t>
            </a:r>
            <a:pPr indent="0" marL="0">
              <a:lnSpc>
                <a:spcPct val="110000"/>
              </a:lnSpc>
              <a:buNone/>
            </a:pPr>
            <a:r>
              <a:rPr lang="en-US" sz="2500" b="1" i="1" dirty="0">
                <a:solidFill>
                  <a:srgbClr val="E05A4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right now</a:t>
            </a:r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?”</a:t>
            </a:r>
            <a:endParaRPr lang="en-US" sz="25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2834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attributes every risk score to its drivers — globally here, per patient in the dashboard. The top drivers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21E1A"/>
                </a:solidFill>
                <a:highlight>
                  <a:srgbClr val="FBE6B8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blend both streams </a:t>
            </a:r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355080" y="4133088"/>
            <a:ext cx="155448" cy="155448"/>
          </a:xfrm>
          <a:prstGeom prst="ellipse">
            <a:avLst/>
          </a:prstGeom>
          <a:solidFill>
            <a:srgbClr val="0A515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647688" y="406908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— HRV, sleep, activity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4636008"/>
            <a:ext cx="155448" cy="1554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47688" y="457200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CGM — glucose level &amp; slope, time of day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5138928"/>
            <a:ext cx="155448" cy="155448"/>
          </a:xfrm>
          <a:prstGeom prst="ellipse">
            <a:avLst/>
          </a:prstGeom>
          <a:solidFill>
            <a:srgbClr val="E05A4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647688" y="5074920"/>
            <a:ext cx="4828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— HbA1c, CKD, medications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a doctor meets the virtual patient</a:t>
            </a:r>
            <a:endParaRPr lang="en-US" sz="3100" dirty="0"/>
          </a:p>
        </p:txBody>
      </p:sp>
      <p:pic>
        <p:nvPicPr>
          <p:cNvPr id="4" name="Image 0" descr="/home/claude/GlucoTwin/docs/img/dash_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572768"/>
            <a:ext cx="8092440" cy="45902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06840" y="2148840"/>
            <a:ext cx="-502920" cy="0"/>
          </a:xfrm>
          <a:prstGeom prst="line">
            <a:avLst/>
          </a:prstGeom>
          <a:noFill/>
          <a:ln w="27940">
            <a:solidFill>
              <a:srgbClr val="E05A4D"/>
            </a:solidFill>
            <a:prstDash val="solid"/>
            <a:tailEnd type="triangle"/>
          </a:ln>
        </p:spPr>
      </p:sp>
      <p:sp>
        <p:nvSpPr>
          <p:cNvPr id="6" name="Text 3"/>
          <p:cNvSpPr txBox="1"/>
          <p:nvPr/>
        </p:nvSpPr>
        <p:spPr>
          <a:xfrm>
            <a:off x="9509760" y="18928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Risk climbs before the spike —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gap is the early warning.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006840" y="3520440"/>
            <a:ext cx="-502920" cy="0"/>
          </a:xfrm>
          <a:prstGeom prst="line">
            <a:avLst/>
          </a:prstGeom>
          <a:noFill/>
          <a:ln w="27940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8" name="Text 5"/>
          <p:cNvSpPr txBox="1"/>
          <p:nvPr/>
        </p:nvSpPr>
        <p:spPr>
          <a:xfrm>
            <a:off x="9509760" y="326440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gauge &amp; alert state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006840" y="4800600"/>
            <a:ext cx="-502920" cy="0"/>
          </a:xfrm>
          <a:prstGeom prst="line">
            <a:avLst/>
          </a:prstGeom>
          <a:noFill/>
          <a:ln w="27940">
            <a:solidFill>
              <a:srgbClr val="6E5DC6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9509760" y="4544568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alert is explained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by its SHAP drivers.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TWIN IN ACTION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Turning a prediction into a recommendation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572768"/>
            <a:ext cx="107624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 </a:t>
            </a:r>
            <a:pPr indent="0" marL="0">
              <a:buNone/>
            </a:pPr>
            <a:r>
              <a:rPr lang="en-US" sz="1700" b="1" dirty="0">
                <a:solidFill>
                  <a:srgbClr val="221E1A"/>
                </a:solidFill>
                <a:highlight>
                  <a:srgbClr val="F7D4CC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68% predicted risk </a:t>
            </a:r>
            <a:pPr indent="0" marL="0">
              <a:buNone/>
            </a:pPr>
            <a:r>
              <a:rPr lang="en-US" sz="1700" dirty="0">
                <a:solidFill>
                  <a:srgbClr val="3A342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, the doctor tries interventions on Meera's twin — and watches the risk fall: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13232" y="257860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GlucoTwin/docs/img/icons/walking_#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796235"/>
            <a:ext cx="341986" cy="3419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2395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20-minute walk now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88950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68%</a:t>
            </a:r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1B9E77"/>
                </a:solidFill>
                <a:highlight>
                  <a:srgbClr val="CDEDE2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37%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713232" y="391363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91072" y="257860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GlucoTwin/docs/img/icons/moon_#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8699" y="2796235"/>
            <a:ext cx="341986" cy="3419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39572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Better sleep, less stress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88950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68%</a:t>
            </a:r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1B9E77"/>
                </a:solidFill>
                <a:highlight>
                  <a:srgbClr val="CDEDE2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31%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713232" y="391363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436168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/home/claude/GlucoTwin/docs/img/icons/pills_#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4579315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1788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metformin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46725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68%</a:t>
            </a:r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1B9E77"/>
                </a:solidFill>
                <a:highlight>
                  <a:srgbClr val="CDEDE2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43%</a:t>
            </a:r>
            <a:endParaRPr lang="en-US" sz="3000" dirty="0"/>
          </a:p>
        </p:txBody>
      </p:sp>
      <p:sp>
        <p:nvSpPr>
          <p:cNvPr id="19" name="Shape 14"/>
          <p:cNvSpPr/>
          <p:nvPr/>
        </p:nvSpPr>
        <p:spPr>
          <a:xfrm>
            <a:off x="6291072" y="4361688"/>
            <a:ext cx="777240" cy="77724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0" name="Image 3" descr="/home/claude/GlucoTwin/docs/img/icons/apple_#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699" y="4579315"/>
            <a:ext cx="341986" cy="3419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315200" y="417880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lighter, low-GI meal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0" y="467258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68%</a:t>
            </a:r>
            <a:pPr indent="0" marL="0">
              <a:buNone/>
            </a:pPr>
            <a:r>
              <a:rPr lang="en-US" sz="3000" b="1" dirty="0">
                <a:solidFill>
                  <a:srgbClr val="8A7F7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→  </a:t>
            </a:r>
            <a:pPr indent="0" marL="0">
              <a:buNone/>
            </a:pPr>
            <a:r>
              <a:rPr lang="en-US" sz="3000" b="1" dirty="0">
                <a:solidFill>
                  <a:srgbClr val="1B9E77"/>
                </a:solidFill>
                <a:highlight>
                  <a:srgbClr val="CDEDE2"/>
                </a:highlight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55%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713232" y="5943600"/>
            <a:ext cx="10762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Context-aware: the engine edits the twin's state and re-scores — the same model, counterfactually.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26" name="Text 20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13232" y="457200"/>
            <a:ext cx="107624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13232" y="749808"/>
            <a:ext cx="1076248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matters — and where it goes next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664208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CHANGES FOR INDIA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2148840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GlucoTwin/docs/img/icons/hospital_#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213" y="2317821"/>
            <a:ext cx="265542" cy="2655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112264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Remote monitoring &amp; triage</a:t>
            </a:r>
            <a:endParaRPr lang="en-US" sz="165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478024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clinician oversees hundreds, ranked by risk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3232" y="3182112"/>
            <a:ext cx="603504" cy="603504"/>
          </a:xfrm>
          <a:prstGeom prst="ellipse">
            <a:avLst/>
          </a:prstGeom>
          <a:solidFill>
            <a:srgbClr val="1B9E77"/>
          </a:solidFill>
          <a:ln/>
        </p:spPr>
      </p:sp>
      <p:pic>
        <p:nvPicPr>
          <p:cNvPr id="10" name="Image 1" descr="/home/claude/GlucoTwin/docs/img/icons/target_#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213" y="3351093"/>
            <a:ext cx="265542" cy="2655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145536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Personalized coaching</a:t>
            </a:r>
            <a:endParaRPr lang="en-US" sz="165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511296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concrete, evidence-based next action per patient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713232" y="4215384"/>
            <a:ext cx="603504" cy="603504"/>
          </a:xfrm>
          <a:prstGeom prst="ellipse">
            <a:avLst/>
          </a:prstGeom>
          <a:solidFill>
            <a:srgbClr val="E05A4D"/>
          </a:solidFill>
          <a:ln/>
        </p:spPr>
      </p:sp>
      <p:pic>
        <p:nvPicPr>
          <p:cNvPr id="14" name="Image 2" descr="/home/claude/GlucoTwin/docs/img/icons/heartbeat_#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213" y="4384365"/>
            <a:ext cx="265542" cy="26554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554480" y="4178808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Prevent complications</a:t>
            </a:r>
            <a:endParaRPr lang="en-US" sz="1650" dirty="0"/>
          </a:p>
        </p:txBody>
      </p:sp>
      <p:sp>
        <p:nvSpPr>
          <p:cNvPr id="16" name="Text 11"/>
          <p:cNvSpPr txBox="1"/>
          <p:nvPr/>
        </p:nvSpPr>
        <p:spPr>
          <a:xfrm>
            <a:off x="1554480" y="4544568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excursions early — slow kidney, eye &amp; heart disease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713232" y="5248656"/>
            <a:ext cx="603504" cy="603504"/>
          </a:xfrm>
          <a:prstGeom prst="ellipse">
            <a:avLst/>
          </a:prstGeom>
          <a:solidFill>
            <a:srgbClr val="D99838"/>
          </a:solidFill>
          <a:ln/>
        </p:spPr>
      </p:sp>
      <p:pic>
        <p:nvPicPr>
          <p:cNvPr id="18" name="Image 3" descr="/home/claude/GlucoTwin/docs/img/icons/globe_#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13" y="5417637"/>
            <a:ext cx="265542" cy="2655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554480" y="5212080"/>
            <a:ext cx="4233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Runs on data India already has</a:t>
            </a:r>
            <a:endParaRPr lang="en-US" sz="1650" dirty="0"/>
          </a:p>
        </p:txBody>
      </p:sp>
      <p:sp>
        <p:nvSpPr>
          <p:cNvPr id="20" name="Text 14"/>
          <p:cNvSpPr txBox="1"/>
          <p:nvPr/>
        </p:nvSpPr>
        <p:spPr>
          <a:xfrm>
            <a:off x="1554480" y="5577840"/>
            <a:ext cx="4233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wearables + CGM + records, with no new hardware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989320" y="1783080"/>
            <a:ext cx="0" cy="4526280"/>
          </a:xfrm>
          <a:prstGeom prst="line">
            <a:avLst/>
          </a:prstGeom>
          <a:noFill/>
          <a:ln w="15240">
            <a:solidFill>
              <a:srgbClr val="E3D8C8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6446520" y="166420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565392" y="2459736"/>
            <a:ext cx="0" cy="3072384"/>
          </a:xfrm>
          <a:prstGeom prst="line">
            <a:avLst/>
          </a:prstGeom>
          <a:noFill/>
          <a:ln w="25400">
            <a:solidFill>
              <a:srgbClr val="E3D8C8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6419088" y="2313432"/>
            <a:ext cx="292608" cy="292608"/>
          </a:xfrm>
          <a:prstGeom prst="ellipse">
            <a:avLst/>
          </a:prstGeom>
          <a:solidFill>
            <a:srgbClr val="0E7C86"/>
          </a:solidFill>
          <a:ln w="31750">
            <a:solidFill>
              <a:srgbClr val="FBF6EF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699516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8229600" y="2221992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Proof of concept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6995160" y="2569464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model, dashboard &amp; simulation on synthetic + open data.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19088" y="3337560"/>
            <a:ext cx="292608" cy="292608"/>
          </a:xfrm>
          <a:prstGeom prst="ellipse">
            <a:avLst/>
          </a:prstGeom>
          <a:solidFill>
            <a:srgbClr val="0A5157"/>
          </a:solidFill>
          <a:ln w="31750">
            <a:solidFill>
              <a:srgbClr val="FBF6EF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995160" y="3264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51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0" y="3246120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Real data</a:t>
            </a:r>
            <a:endParaRPr lang="en-US" sz="1600" dirty="0"/>
          </a:p>
        </p:txBody>
      </p:sp>
      <p:sp>
        <p:nvSpPr>
          <p:cNvPr id="31" name="Text 25"/>
          <p:cNvSpPr txBox="1"/>
          <p:nvPr/>
        </p:nvSpPr>
        <p:spPr>
          <a:xfrm>
            <a:off x="6995160" y="359359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validate on ShanghaiT2DM, MIMIC-IV and wearable cohorts.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6419088" y="4361688"/>
            <a:ext cx="292608" cy="292608"/>
          </a:xfrm>
          <a:prstGeom prst="ellipse">
            <a:avLst/>
          </a:prstGeom>
          <a:solidFill>
            <a:srgbClr val="D99838"/>
          </a:solidFill>
          <a:ln w="31750">
            <a:solidFill>
              <a:srgbClr val="FBF6EF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6995160" y="42885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9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8229600" y="42702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Prospective pilot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6995160" y="46177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silent-mode hospital pilot measuring real lead time &amp; utility.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419088" y="5385816"/>
            <a:ext cx="292608" cy="292608"/>
          </a:xfrm>
          <a:prstGeom prst="ellipse">
            <a:avLst/>
          </a:prstGeom>
          <a:solidFill>
            <a:srgbClr val="E05A4D"/>
          </a:solidFill>
          <a:ln w="31750">
            <a:solidFill>
              <a:srgbClr val="FBF6EF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995160" y="53126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 dirty="0"/>
          </a:p>
        </p:txBody>
      </p:sp>
      <p:sp>
        <p:nvSpPr>
          <p:cNvPr id="38" name="Text 32"/>
          <p:cNvSpPr txBox="1"/>
          <p:nvPr/>
        </p:nvSpPr>
        <p:spPr>
          <a:xfrm>
            <a:off x="8229600" y="5294376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1E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Regulation &amp; scale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6995160" y="5641848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A3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audits, a CDSCO pathway, clinician-in-the-loop trials.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713232" y="6473952"/>
            <a:ext cx="10762488" cy="0"/>
          </a:xfrm>
          <a:prstGeom prst="line">
            <a:avLst/>
          </a:prstGeom>
          <a:noFill/>
          <a:ln w="12700">
            <a:solidFill>
              <a:srgbClr val="E3D8C8"/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13232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GlucoTwin — Digital Twin for Type 2 Diabetes</a:t>
            </a:r>
            <a:endParaRPr lang="en-US" sz="950" dirty="0"/>
          </a:p>
        </p:txBody>
      </p:sp>
      <p:sp>
        <p:nvSpPr>
          <p:cNvPr id="42" name="Text 36"/>
          <p:cNvSpPr txBox="1"/>
          <p:nvPr/>
        </p:nvSpPr>
        <p:spPr>
          <a:xfrm>
            <a:off x="9646920" y="6492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5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103120"/>
            <a:ext cx="5852160" cy="5852160"/>
          </a:xfrm>
          <a:prstGeom prst="ellipse">
            <a:avLst/>
          </a:prstGeom>
          <a:solidFill>
            <a:srgbClr val="0C4A5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" y="777240"/>
            <a:ext cx="777240" cy="777240"/>
          </a:xfrm>
          <a:prstGeom prst="ellipse">
            <a:avLst/>
          </a:prstGeom>
          <a:solidFill>
            <a:srgbClr val="E05A4D"/>
          </a:solidFill>
          <a:ln/>
        </p:spPr>
      </p:sp>
      <p:pic>
        <p:nvPicPr>
          <p:cNvPr id="4" name="Image 0" descr="/home/claude/GlucoTwin/docs/img/icons/heart_#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994867"/>
            <a:ext cx="341986" cy="3419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16916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gentle nudge </a:t>
            </a:r>
            <a:pPr indent="0" marL="0">
              <a:lnSpc>
                <a:spcPct val="112000"/>
              </a:lnSpc>
              <a:buNone/>
            </a:pPr>
            <a:r>
              <a:rPr lang="en-US" sz="3400" b="1" i="1" dirty="0">
                <a:solidFill>
                  <a:srgbClr val="FFE1B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before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the spike —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 a diagnosis 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i="1" dirty="0">
                <a:solidFill>
                  <a:srgbClr val="FFE1B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</a:t>
            </a:r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the damage.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713232" y="3657600"/>
            <a:ext cx="10762488" cy="0"/>
          </a:xfrm>
          <a:prstGeom prst="line">
            <a:avLst/>
          </a:prstGeom>
          <a:noFill/>
          <a:ln w="12700">
            <a:solidFill>
              <a:srgbClr val="2A5A5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13232" y="37490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713232" y="4572000"/>
            <a:ext cx="164592" cy="164592"/>
          </a:xfrm>
          <a:prstGeom prst="ellipse">
            <a:avLst/>
          </a:prstGeom>
          <a:solidFill>
            <a:srgbClr val="1B9E7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33272" y="4526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record + wearable/CGM — both streams proven to add value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13232" y="4992624"/>
            <a:ext cx="164592" cy="164592"/>
          </a:xfrm>
          <a:prstGeom prst="ellipse">
            <a:avLst/>
          </a:prstGeom>
          <a:solidFill>
            <a:srgbClr val="1B9E7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33272" y="4946904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~50 min ahead · ROC-AUC 0.95 · 84% caught early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13232" y="5413248"/>
            <a:ext cx="164592" cy="164592"/>
          </a:xfrm>
          <a:prstGeom prst="ellipse">
            <a:avLst/>
          </a:prstGeom>
          <a:solidFill>
            <a:srgbClr val="1B9E7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033272" y="53675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every alert &amp; simulates the fix on a virtual twin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3232" y="5833872"/>
            <a:ext cx="164592" cy="164592"/>
          </a:xfrm>
          <a:prstGeom prst="ellipse">
            <a:avLst/>
          </a:prstGeom>
          <a:solidFill>
            <a:srgbClr val="1B9E7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033272" y="5788152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45 s, zero downloads — synthetic + real-data ready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" y="6355080"/>
            <a:ext cx="107624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2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Healthcure · IIT Kanpur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entury Schoolboo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GlucoTwin — Predictive Digital Twin for Type 2 Diabetes</dc:title>
  <dc:subject>PptxGenJS Presentation</dc:subject>
  <dc:creator>Team Healthcure, IIT Kanpur</dc:creator>
  <cp:lastModifiedBy>Team Healthcure, IIT Kanpur</cp:lastModifiedBy>
  <cp:revision>1</cp:revision>
  <dcterms:created xsi:type="dcterms:W3CDTF">2026-10-12T20:27:51Z</dcterms:created>
  <dcterms:modified xsi:type="dcterms:W3CDTF">2026-10-12T20:27:51Z</dcterms:modified>
</cp:coreProperties>
</file>